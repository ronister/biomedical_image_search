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4630400" cy="8229600"/>
  <p:notesSz cx="8229600" cy="14630400"/>
  <p:embeddedFontLst>
    <p:embeddedFont>
      <p:font typeface="Consolas" panose="020B0609020204030204" pitchFamily="49" charset="0"/>
      <p:regular r:id="rId25"/>
      <p:bold r:id="rId26"/>
      <p:italic r:id="rId27"/>
      <p:boldItalic r:id="rId28"/>
    </p:embeddedFont>
    <p:embeddedFont>
      <p:font typeface="Libre Baskerville" panose="02000000000000000000" pitchFamily="2" charset="0"/>
      <p:regular r:id="rId29"/>
      <p:bold r:id="rId30"/>
      <p:italic r:id="rId31"/>
    </p:embeddedFont>
    <p:embeddedFont>
      <p:font typeface="Open Sans" panose="020B0606030504020204" pitchFamily="34" charset="0"/>
      <p:regular r:id="rId32"/>
      <p:bold r:id="rId33"/>
      <p:italic r:id="rId34"/>
      <p:boldItalic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F21EEF-5B61-4CE4-B6D2-9F144A7B7E15}" type="datetimeFigureOut">
              <a:t>5/25/2025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1488E2-D7DB-44BE-95FD-3D1CADBD399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759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007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8670" y="619720"/>
            <a:ext cx="7566660" cy="1901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Biomedical Image Similarity Search Using Multimodal Open-Source Models</a:t>
            </a:r>
            <a:endParaRPr lang="en-US" sz="3950" dirty="0"/>
          </a:p>
        </p:txBody>
      </p:sp>
      <p:sp>
        <p:nvSpPr>
          <p:cNvPr id="4" name="Text 1"/>
          <p:cNvSpPr/>
          <p:nvPr/>
        </p:nvSpPr>
        <p:spPr>
          <a:xfrm>
            <a:off x="788670" y="2825234"/>
            <a:ext cx="7566660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788670" y="3377922"/>
            <a:ext cx="7566660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88670" y="4006691"/>
            <a:ext cx="2535317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Roni Shternberg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788670" y="4627721"/>
            <a:ext cx="2535317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May 2025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788670" y="5248751"/>
            <a:ext cx="7566660" cy="633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Biomedical Image Processing Course – Holon Institute of Technology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788670" y="6186607"/>
            <a:ext cx="7566660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5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0245" y="6739295"/>
            <a:ext cx="2585085" cy="87106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88744" y="703183"/>
            <a:ext cx="4252913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50"/>
              </a:lnSpc>
              <a:buNone/>
            </a:pPr>
            <a:r>
              <a:rPr lang="en-US" sz="33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Overview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93790" y="1489948"/>
            <a:ext cx="6436400" cy="605790"/>
          </a:xfrm>
          <a:prstGeom prst="roundRect">
            <a:avLst>
              <a:gd name="adj" fmla="val 4212"/>
            </a:avLst>
          </a:prstGeom>
          <a:solidFill>
            <a:srgbClr val="EAE8F3"/>
          </a:solidFill>
          <a:ln/>
        </p:spPr>
      </p:sp>
      <p:sp>
        <p:nvSpPr>
          <p:cNvPr id="4" name="Text 2"/>
          <p:cNvSpPr/>
          <p:nvPr/>
        </p:nvSpPr>
        <p:spPr>
          <a:xfrm>
            <a:off x="963811" y="1659969"/>
            <a:ext cx="3309938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1. Project Goals and Objectives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400211" y="1489948"/>
            <a:ext cx="6436400" cy="605790"/>
          </a:xfrm>
          <a:prstGeom prst="roundRect">
            <a:avLst>
              <a:gd name="adj" fmla="val 4212"/>
            </a:avLst>
          </a:prstGeom>
          <a:solidFill>
            <a:srgbClr val="EAE8F3"/>
          </a:solidFill>
          <a:ln/>
        </p:spPr>
      </p:sp>
      <p:sp>
        <p:nvSpPr>
          <p:cNvPr id="6" name="Text 4"/>
          <p:cNvSpPr/>
          <p:nvPr/>
        </p:nvSpPr>
        <p:spPr>
          <a:xfrm>
            <a:off x="7570232" y="1659969"/>
            <a:ext cx="4379833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9. Development Obstacles and Solutions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793790" y="2265759"/>
            <a:ext cx="6436400" cy="605790"/>
          </a:xfrm>
          <a:prstGeom prst="roundRect">
            <a:avLst>
              <a:gd name="adj" fmla="val 4212"/>
            </a:avLst>
          </a:prstGeom>
          <a:solidFill>
            <a:srgbClr val="EAE8F3"/>
          </a:solidFill>
          <a:ln/>
        </p:spPr>
      </p:sp>
      <p:sp>
        <p:nvSpPr>
          <p:cNvPr id="8" name="Text 6"/>
          <p:cNvSpPr/>
          <p:nvPr/>
        </p:nvSpPr>
        <p:spPr>
          <a:xfrm>
            <a:off x="963811" y="2435781"/>
            <a:ext cx="3467695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2. Similarity Search Importance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400211" y="2265759"/>
            <a:ext cx="6436400" cy="605790"/>
          </a:xfrm>
          <a:prstGeom prst="roundRect">
            <a:avLst>
              <a:gd name="adj" fmla="val 4212"/>
            </a:avLst>
          </a:prstGeom>
          <a:solidFill>
            <a:srgbClr val="EAE8F3"/>
          </a:solidFill>
          <a:ln/>
        </p:spPr>
      </p:sp>
      <p:sp>
        <p:nvSpPr>
          <p:cNvPr id="10" name="Text 8"/>
          <p:cNvSpPr/>
          <p:nvPr/>
        </p:nvSpPr>
        <p:spPr>
          <a:xfrm>
            <a:off x="7570232" y="2435781"/>
            <a:ext cx="2375654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10. System Evaluation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793790" y="3041571"/>
            <a:ext cx="6436400" cy="605790"/>
          </a:xfrm>
          <a:prstGeom prst="roundRect">
            <a:avLst>
              <a:gd name="adj" fmla="val 4212"/>
            </a:avLst>
          </a:prstGeom>
          <a:solidFill>
            <a:srgbClr val="EAE8F3"/>
          </a:solidFill>
          <a:ln/>
        </p:spPr>
      </p:sp>
      <p:sp>
        <p:nvSpPr>
          <p:cNvPr id="12" name="Text 10"/>
          <p:cNvSpPr/>
          <p:nvPr/>
        </p:nvSpPr>
        <p:spPr>
          <a:xfrm>
            <a:off x="963811" y="3211592"/>
            <a:ext cx="3760232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3. System Architecture (code2flow)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400211" y="3041571"/>
            <a:ext cx="6436400" cy="605790"/>
          </a:xfrm>
          <a:prstGeom prst="roundRect">
            <a:avLst>
              <a:gd name="adj" fmla="val 4212"/>
            </a:avLst>
          </a:prstGeom>
          <a:solidFill>
            <a:srgbClr val="EAE8F3"/>
          </a:solidFill>
          <a:ln/>
        </p:spPr>
      </p:sp>
      <p:sp>
        <p:nvSpPr>
          <p:cNvPr id="14" name="Text 12"/>
          <p:cNvSpPr/>
          <p:nvPr/>
        </p:nvSpPr>
        <p:spPr>
          <a:xfrm>
            <a:off x="7570232" y="3211592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11. Future Work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93790" y="3817382"/>
            <a:ext cx="6436400" cy="605790"/>
          </a:xfrm>
          <a:prstGeom prst="roundRect">
            <a:avLst>
              <a:gd name="adj" fmla="val 4212"/>
            </a:avLst>
          </a:prstGeom>
          <a:solidFill>
            <a:srgbClr val="EAE8F3"/>
          </a:solidFill>
          <a:ln/>
        </p:spPr>
      </p:sp>
      <p:sp>
        <p:nvSpPr>
          <p:cNvPr id="16" name="Text 14"/>
          <p:cNvSpPr/>
          <p:nvPr/>
        </p:nvSpPr>
        <p:spPr>
          <a:xfrm>
            <a:off x="963811" y="3987403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4. Postman App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7400211" y="3817382"/>
            <a:ext cx="6436400" cy="605790"/>
          </a:xfrm>
          <a:prstGeom prst="roundRect">
            <a:avLst>
              <a:gd name="adj" fmla="val 4212"/>
            </a:avLst>
          </a:prstGeom>
          <a:solidFill>
            <a:srgbClr val="EAE8F3"/>
          </a:solidFill>
          <a:ln/>
        </p:spPr>
      </p:sp>
      <p:sp>
        <p:nvSpPr>
          <p:cNvPr id="18" name="Text 16"/>
          <p:cNvSpPr/>
          <p:nvPr/>
        </p:nvSpPr>
        <p:spPr>
          <a:xfrm>
            <a:off x="7570232" y="3987403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12. Summary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793790" y="4593193"/>
            <a:ext cx="6436400" cy="605790"/>
          </a:xfrm>
          <a:prstGeom prst="roundRect">
            <a:avLst>
              <a:gd name="adj" fmla="val 4212"/>
            </a:avLst>
          </a:prstGeom>
          <a:solidFill>
            <a:srgbClr val="EAE8F3"/>
          </a:solidFill>
          <a:ln/>
        </p:spPr>
      </p:sp>
      <p:sp>
        <p:nvSpPr>
          <p:cNvPr id="20" name="Text 18"/>
          <p:cNvSpPr/>
          <p:nvPr/>
        </p:nvSpPr>
        <p:spPr>
          <a:xfrm>
            <a:off x="963811" y="4763214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5. EVICAN Dataset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7400211" y="4593193"/>
            <a:ext cx="6436400" cy="605790"/>
          </a:xfrm>
          <a:prstGeom prst="roundRect">
            <a:avLst>
              <a:gd name="adj" fmla="val 4212"/>
            </a:avLst>
          </a:prstGeom>
          <a:solidFill>
            <a:srgbClr val="FBFAFF"/>
          </a:solidFill>
          <a:ln/>
        </p:spPr>
      </p:sp>
      <p:sp>
        <p:nvSpPr>
          <p:cNvPr id="22" name="Text 20"/>
          <p:cNvSpPr/>
          <p:nvPr/>
        </p:nvSpPr>
        <p:spPr>
          <a:xfrm>
            <a:off x="7570232" y="4763214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793790" y="5369004"/>
            <a:ext cx="6436400" cy="605790"/>
          </a:xfrm>
          <a:prstGeom prst="roundRect">
            <a:avLst>
              <a:gd name="adj" fmla="val 4212"/>
            </a:avLst>
          </a:prstGeom>
          <a:solidFill>
            <a:srgbClr val="EAE8F3"/>
          </a:solidFill>
          <a:ln/>
        </p:spPr>
      </p:sp>
      <p:sp>
        <p:nvSpPr>
          <p:cNvPr id="24" name="Text 22"/>
          <p:cNvSpPr/>
          <p:nvPr/>
        </p:nvSpPr>
        <p:spPr>
          <a:xfrm>
            <a:off x="963811" y="5539026"/>
            <a:ext cx="2432685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6. BiomedCLIP Model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7400211" y="5369004"/>
            <a:ext cx="6436400" cy="605790"/>
          </a:xfrm>
          <a:prstGeom prst="roundRect">
            <a:avLst>
              <a:gd name="adj" fmla="val 4212"/>
            </a:avLst>
          </a:prstGeom>
          <a:solidFill>
            <a:srgbClr val="FBFAFF"/>
          </a:solidFill>
          <a:ln/>
        </p:spPr>
      </p:sp>
      <p:sp>
        <p:nvSpPr>
          <p:cNvPr id="26" name="Text 24"/>
          <p:cNvSpPr/>
          <p:nvPr/>
        </p:nvSpPr>
        <p:spPr>
          <a:xfrm>
            <a:off x="7570232" y="5539026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793790" y="6144816"/>
            <a:ext cx="6436400" cy="605790"/>
          </a:xfrm>
          <a:prstGeom prst="roundRect">
            <a:avLst>
              <a:gd name="adj" fmla="val 4212"/>
            </a:avLst>
          </a:prstGeom>
          <a:solidFill>
            <a:srgbClr val="EAE8F3"/>
          </a:solidFill>
          <a:ln/>
        </p:spPr>
      </p:sp>
      <p:sp>
        <p:nvSpPr>
          <p:cNvPr id="28" name="Text 26"/>
          <p:cNvSpPr/>
          <p:nvPr/>
        </p:nvSpPr>
        <p:spPr>
          <a:xfrm>
            <a:off x="963811" y="6314837"/>
            <a:ext cx="3250168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7. ChromaDB Vector Database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7400211" y="6144816"/>
            <a:ext cx="6436400" cy="605790"/>
          </a:xfrm>
          <a:prstGeom prst="roundRect">
            <a:avLst>
              <a:gd name="adj" fmla="val 4212"/>
            </a:avLst>
          </a:prstGeom>
          <a:solidFill>
            <a:srgbClr val="FBFAFF"/>
          </a:solidFill>
          <a:ln/>
        </p:spPr>
      </p:sp>
      <p:sp>
        <p:nvSpPr>
          <p:cNvPr id="30" name="Text 28"/>
          <p:cNvSpPr/>
          <p:nvPr/>
        </p:nvSpPr>
        <p:spPr>
          <a:xfrm>
            <a:off x="7570232" y="6314837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793790" y="6920627"/>
            <a:ext cx="6436400" cy="605790"/>
          </a:xfrm>
          <a:prstGeom prst="roundRect">
            <a:avLst>
              <a:gd name="adj" fmla="val 4212"/>
            </a:avLst>
          </a:prstGeom>
          <a:solidFill>
            <a:srgbClr val="EAE8F3"/>
          </a:solidFill>
          <a:ln/>
        </p:spPr>
      </p:sp>
      <p:sp>
        <p:nvSpPr>
          <p:cNvPr id="32" name="Text 30"/>
          <p:cNvSpPr/>
          <p:nvPr/>
        </p:nvSpPr>
        <p:spPr>
          <a:xfrm>
            <a:off x="963811" y="7090648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8. FastAPI Server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7400211" y="6920627"/>
            <a:ext cx="6436400" cy="605790"/>
          </a:xfrm>
          <a:prstGeom prst="roundRect">
            <a:avLst>
              <a:gd name="adj" fmla="val 4212"/>
            </a:avLst>
          </a:prstGeom>
          <a:solidFill>
            <a:srgbClr val="FBFAFF"/>
          </a:solidFill>
          <a:ln/>
        </p:spPr>
      </p:sp>
      <p:sp>
        <p:nvSpPr>
          <p:cNvPr id="34" name="Text 32"/>
          <p:cNvSpPr/>
          <p:nvPr/>
        </p:nvSpPr>
        <p:spPr>
          <a:xfrm>
            <a:off x="7570232" y="7090648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83017" y="3486983"/>
            <a:ext cx="826424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Project Goals and Objectives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453592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860" y="4578429"/>
            <a:ext cx="340162" cy="4252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30906" y="4613791"/>
            <a:ext cx="40065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1. Clinical Decision Support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530906" y="5104209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Physicians need similar historical cases to inform diagnoses.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7457003" y="453592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2074" y="4578429"/>
            <a:ext cx="340162" cy="4252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194119" y="4613791"/>
            <a:ext cx="46254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2. Address Research Bottlenecks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8194119" y="5104209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Manual searching through vast image repositories is inefficient.</a:t>
            </a: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793790" y="628364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860" y="6326148"/>
            <a:ext cx="340162" cy="42529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30906" y="6361509"/>
            <a:ext cx="42026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3. Mitigating Knowledge Gap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530906" y="6851928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Traditional methods rely on text metadata, missing visual similarities.</a:t>
            </a:r>
            <a:endParaRPr lang="en-US" sz="1750" dirty="0"/>
          </a:p>
        </p:txBody>
      </p:sp>
      <p:sp>
        <p:nvSpPr>
          <p:cNvPr id="16" name="Shape 10"/>
          <p:cNvSpPr/>
          <p:nvPr/>
        </p:nvSpPr>
        <p:spPr>
          <a:xfrm>
            <a:off x="7457003" y="6283643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2074" y="6326148"/>
            <a:ext cx="340162" cy="42529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194119" y="6361509"/>
            <a:ext cx="32857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4. Diagnostic Precision</a:t>
            </a:r>
            <a:endParaRPr lang="en-US" sz="2200" dirty="0"/>
          </a:p>
        </p:txBody>
      </p:sp>
      <p:sp>
        <p:nvSpPr>
          <p:cNvPr id="19" name="Text 12"/>
          <p:cNvSpPr/>
          <p:nvPr/>
        </p:nvSpPr>
        <p:spPr>
          <a:xfrm>
            <a:off x="8194119" y="6851928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Similar image retrieval reveals subtle patterns across cases.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2690" y="1334929"/>
            <a:ext cx="1158501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Why Biomedical Image Search Matters?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497336"/>
            <a:ext cx="3260646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3744754"/>
            <a:ext cx="28070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Clinical Diagnosis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20604" y="4235172"/>
            <a:ext cx="280701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Helps pathologists identify rare diseases by finding similar cases globally.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4435" y="2497336"/>
            <a:ext cx="3260765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81249" y="3744754"/>
            <a:ext cx="280713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Research Acceleration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4281249" y="4589502"/>
            <a:ext cx="280713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Connects visually similar experiments across siloed datasets.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2497336"/>
            <a:ext cx="3260646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542014" y="3744754"/>
            <a:ext cx="28070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Medical Education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542014" y="4235172"/>
            <a:ext cx="280701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Enables case-based learning through visual similarity rather than text labels.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5846" y="2497336"/>
            <a:ext cx="3260765" cy="9072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802660" y="3744754"/>
            <a:ext cx="28071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Precision Medicine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0802660" y="4235172"/>
            <a:ext cx="280713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Links visual patterns to genetic markers for personalized treatment.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793790" y="6168747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system aims to reduce diagnosis time significantly while improving accuracy. This creates standardized visual interpretations across institutions and brings specialized knowledge to underserved areas.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94015"/>
            <a:ext cx="7556421" cy="1346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System Architecture Components</a:t>
            </a:r>
            <a:endParaRPr lang="en-US" sz="42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2363986"/>
            <a:ext cx="1077397" cy="12929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80722" y="2579370"/>
            <a:ext cx="2719745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Interface - Postman</a:t>
            </a:r>
            <a:endParaRPr lang="en-US" sz="2100" dirty="0"/>
          </a:p>
        </p:txBody>
      </p:sp>
      <p:sp>
        <p:nvSpPr>
          <p:cNvPr id="6" name="Text 2"/>
          <p:cNvSpPr/>
          <p:nvPr/>
        </p:nvSpPr>
        <p:spPr>
          <a:xfrm>
            <a:off x="7680722" y="3045143"/>
            <a:ext cx="615588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</a:t>
            </a:r>
            <a:r>
              <a:rPr lang="en-US" sz="1650" i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</a:t>
            </a:r>
            <a:r>
              <a:rPr lang="en-US" sz="16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Postman </a:t>
            </a: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 to send POST request and get result</a:t>
            </a:r>
            <a:endParaRPr lang="en-US" sz="16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3656886"/>
            <a:ext cx="1077397" cy="12929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80722" y="3872270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FastAPI Server</a:t>
            </a:r>
            <a:endParaRPr lang="en-US" sz="2100" dirty="0"/>
          </a:p>
        </p:txBody>
      </p:sp>
      <p:sp>
        <p:nvSpPr>
          <p:cNvPr id="9" name="Text 4"/>
          <p:cNvSpPr/>
          <p:nvPr/>
        </p:nvSpPr>
        <p:spPr>
          <a:xfrm>
            <a:off x="7680722" y="4338042"/>
            <a:ext cx="615588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Handle image processing and search requests</a:t>
            </a:r>
            <a:endParaRPr lang="en-US" sz="16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0190" y="4949785"/>
            <a:ext cx="1077397" cy="12929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80722" y="5165169"/>
            <a:ext cx="275963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BiomedCLIP Model</a:t>
            </a:r>
            <a:endParaRPr lang="en-US" sz="2100" dirty="0"/>
          </a:p>
        </p:txBody>
      </p:sp>
      <p:sp>
        <p:nvSpPr>
          <p:cNvPr id="12" name="Text 6"/>
          <p:cNvSpPr/>
          <p:nvPr/>
        </p:nvSpPr>
        <p:spPr>
          <a:xfrm>
            <a:off x="7680722" y="5630942"/>
            <a:ext cx="615588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Extract rich semantic image embeddings</a:t>
            </a:r>
            <a:endParaRPr lang="en-US" sz="16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0190" y="6242685"/>
            <a:ext cx="1077397" cy="12929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680722" y="6458069"/>
            <a:ext cx="3849052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ChromaDB Vector Database</a:t>
            </a:r>
            <a:endParaRPr lang="en-US" sz="2100" dirty="0"/>
          </a:p>
        </p:txBody>
      </p:sp>
      <p:sp>
        <p:nvSpPr>
          <p:cNvPr id="15" name="Text 8"/>
          <p:cNvSpPr/>
          <p:nvPr/>
        </p:nvSpPr>
        <p:spPr>
          <a:xfrm>
            <a:off x="7680722" y="6923842"/>
            <a:ext cx="6155888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Store and efficiently search image embeddings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139684" y="573762"/>
            <a:ext cx="6350913" cy="422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00"/>
              </a:lnSpc>
              <a:buNone/>
            </a:pPr>
            <a:r>
              <a:rPr lang="en-US" sz="26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System Call Graph (using code2flow)</a:t>
            </a:r>
            <a:endParaRPr lang="en-US" sz="26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424" y="1199436"/>
            <a:ext cx="10822900" cy="608778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28424" y="7439382"/>
            <a:ext cx="13173551" cy="2163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61585" y="619720"/>
            <a:ext cx="4507230" cy="563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00"/>
              </a:lnSpc>
              <a:buNone/>
            </a:pPr>
            <a:r>
              <a:rPr lang="en-US" sz="35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Postman App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70" y="1543645"/>
            <a:ext cx="13053060" cy="611195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52243" y="925830"/>
            <a:ext cx="1112579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Postman: Request and Response JSON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229922"/>
            <a:ext cx="5292923" cy="478178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736" y="2229922"/>
            <a:ext cx="6993850" cy="48186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79846" y="178558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Image Comparison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947988"/>
            <a:ext cx="13042821" cy="25888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877044"/>
            <a:ext cx="1195816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Input image          Output: Four most similar images</a:t>
            </a:r>
            <a:endParaRPr lang="en-US" sz="3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6760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EVICAN (Expert visual cell annotation) Dataset 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31294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Overview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383399"/>
            <a:ext cx="624470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dataset is a specialized collection of </a:t>
            </a: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expertly annotated cell microscopy images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It serves as a valuable resource for developing and evaluating machine learning models in biomedical image understanding.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277207"/>
            <a:ext cx="624470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Comprising annotated </a:t>
            </a: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grayscale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images of </a:t>
            </a: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30 different cell lines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from multiple microscopes, contrast mechanisms and magnifications. With</a:t>
            </a: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4600 images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</a:t>
            </a: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∼26 000 segmented cells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it offers diverse cellular representations.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2731294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Features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7599521" y="338339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Multiple cell types 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and imaging modalities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382559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Expert-driven annotations 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 ground truth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26779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Diverse 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cellular structures and morphologies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4857512"/>
            <a:ext cx="3835003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Research Applications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7599521" y="5509617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dataset enables advancements in areas like</a:t>
            </a: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cell classification, morphological analysis, and anomaly detection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667762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It supports </a:t>
            </a: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multi-modal learning and transfer learning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specialized cellular analysis.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30129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The Model: BiomedCLIP (Biomedical Contrastive Language-Image Pre-training)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14663"/>
            <a:ext cx="2845594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Domain Specialization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4092059"/>
            <a:ext cx="2845594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BiomedCLIP is pre-trained on</a:t>
            </a: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PMC-15M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containing </a:t>
            </a: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 million figure-caption pairs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from biomedical research articles, allowing it to </a:t>
            </a: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deeply understand 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cellular structures and medical concepts.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4200406" y="3014663"/>
            <a:ext cx="2845594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Multimodal Understanding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4200406" y="4092059"/>
            <a:ext cx="284559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model connects visual features with biomedical terminology, enabling both</a:t>
            </a: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image-to-text and text-to-image retrieval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607022" y="3014663"/>
            <a:ext cx="2845594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Transfer Learning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7607022" y="4092059"/>
            <a:ext cx="2845594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BiomedCLIP captures domain-specific visual features, </a:t>
            </a: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requiring fewer examples to fine-tune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specialized biomedical tasks.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1013638" y="3014663"/>
            <a:ext cx="284559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Architecture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11013638" y="3666768"/>
            <a:ext cx="2845594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model uses a</a:t>
            </a: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Vision Transformer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backbone for robust feature extraction,</a:t>
            </a:r>
            <a:r>
              <a:rPr lang="en-US" sz="17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along with a PubMedBERT text encoder </a:t>
            </a: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 biomedical language understanding.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56842" y="662226"/>
            <a:ext cx="9916716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50"/>
              </a:lnSpc>
              <a:buNone/>
            </a:pPr>
            <a:r>
              <a:rPr lang="en-US" sz="33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CLIP - Image Embedding Generation Process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534001"/>
            <a:ext cx="13042821" cy="48214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6546771"/>
            <a:ext cx="13042821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CLIP pre-trains an image encoder and a text encoder to predict which images were paired with which texts in our dataset. We then use this behavior to turn CLIP Into a zero-shot classifier We convert all of a dataset's classes into captions such as "a photo of a dog" and predict the class of the caption CLIP estimates best pairs with a given image.</a:t>
            </a:r>
            <a:endParaRPr lang="en-US" sz="1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6444" y="773430"/>
            <a:ext cx="12477393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000"/>
              </a:lnSpc>
              <a:buNone/>
            </a:pPr>
            <a:r>
              <a:rPr lang="en-US" sz="40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System - Image Embedding Generation Process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93790" y="1717477"/>
            <a:ext cx="152995" cy="767953"/>
          </a:xfrm>
          <a:prstGeom prst="roundRect">
            <a:avLst>
              <a:gd name="adj" fmla="val 20015"/>
            </a:avLst>
          </a:prstGeom>
          <a:solidFill>
            <a:srgbClr val="EAE8F3"/>
          </a:solidFill>
          <a:ln/>
        </p:spPr>
      </p:sp>
      <p:sp>
        <p:nvSpPr>
          <p:cNvPr id="4" name="Text 2"/>
          <p:cNvSpPr/>
          <p:nvPr/>
        </p:nvSpPr>
        <p:spPr>
          <a:xfrm>
            <a:off x="1252895" y="1717477"/>
            <a:ext cx="2720459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Image Preprocessing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52895" y="2158722"/>
            <a:ext cx="12583716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Images loaded and converted to RGB format, resized and normalized.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99899" y="2689503"/>
            <a:ext cx="152995" cy="767953"/>
          </a:xfrm>
          <a:prstGeom prst="roundRect">
            <a:avLst>
              <a:gd name="adj" fmla="val 20015"/>
            </a:avLst>
          </a:prstGeom>
          <a:solidFill>
            <a:srgbClr val="EAE8F3"/>
          </a:solidFill>
          <a:ln/>
        </p:spPr>
      </p:sp>
      <p:sp>
        <p:nvSpPr>
          <p:cNvPr id="7" name="Text 5"/>
          <p:cNvSpPr/>
          <p:nvPr/>
        </p:nvSpPr>
        <p:spPr>
          <a:xfrm>
            <a:off x="1559004" y="2689503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Extraction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9004" y="3130748"/>
            <a:ext cx="12277606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BiomedCLIP encoder extracts 512-dimensional feature vectors.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406128" y="3661529"/>
            <a:ext cx="152995" cy="767953"/>
          </a:xfrm>
          <a:prstGeom prst="roundRect">
            <a:avLst>
              <a:gd name="adj" fmla="val 20015"/>
            </a:avLst>
          </a:prstGeom>
          <a:solidFill>
            <a:srgbClr val="EAE8F3"/>
          </a:solidFill>
          <a:ln/>
        </p:spPr>
      </p:sp>
      <p:sp>
        <p:nvSpPr>
          <p:cNvPr id="10" name="Text 8"/>
          <p:cNvSpPr/>
          <p:nvPr/>
        </p:nvSpPr>
        <p:spPr>
          <a:xfrm>
            <a:off x="1865233" y="3661529"/>
            <a:ext cx="3506510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Embedding Normalization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65233" y="4102775"/>
            <a:ext cx="11971377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Vectors normalized for consistent similarity comparison.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93790" y="4863108"/>
            <a:ext cx="13042821" cy="2592943"/>
          </a:xfrm>
          <a:prstGeom prst="roundRect">
            <a:avLst>
              <a:gd name="adj" fmla="val 1181"/>
            </a:avLst>
          </a:prstGeom>
          <a:solidFill>
            <a:srgbClr val="D7D6F5"/>
          </a:solidFill>
          <a:ln/>
        </p:spPr>
      </p:sp>
      <p:sp>
        <p:nvSpPr>
          <p:cNvPr id="13" name="Shape 11"/>
          <p:cNvSpPr/>
          <p:nvPr/>
        </p:nvSpPr>
        <p:spPr>
          <a:xfrm>
            <a:off x="783669" y="4863108"/>
            <a:ext cx="13063061" cy="2592943"/>
          </a:xfrm>
          <a:prstGeom prst="roundRect">
            <a:avLst>
              <a:gd name="adj" fmla="val 1181"/>
            </a:avLst>
          </a:prstGeom>
          <a:solidFill>
            <a:srgbClr val="D7D6F5"/>
          </a:solidFill>
          <a:ln/>
        </p:spPr>
      </p:sp>
      <p:sp>
        <p:nvSpPr>
          <p:cNvPr id="14" name="Text 12"/>
          <p:cNvSpPr/>
          <p:nvPr/>
        </p:nvSpPr>
        <p:spPr>
          <a:xfrm>
            <a:off x="987742" y="5016103"/>
            <a:ext cx="12654915" cy="2286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9495A"/>
                </a:solidFill>
                <a:highlight>
                  <a:srgbClr val="D7D6F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Extract embeddings
with torch.no_grad():
    features = model.encode_image(img_tensor, normalize=True)
# Convert to numpy array
query_embedding = features.cpu().numpy().squeeze()
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973830"/>
            <a:ext cx="825293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ChromaDB Implementation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822127" y="5051108"/>
            <a:ext cx="510183" cy="589598"/>
          </a:xfrm>
          <a:prstGeom prst="roundRect">
            <a:avLst>
              <a:gd name="adj" fmla="val 10754"/>
            </a:avLst>
          </a:prstGeom>
          <a:solidFill>
            <a:srgbClr val="E6E6E7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062418"/>
            <a:ext cx="566976" cy="56697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87579" y="5157430"/>
            <a:ext cx="225421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Persistent Storage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587579" y="6002179"/>
            <a:ext cx="22542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Durable storage of embedding vectors and metadata.</a:t>
            </a:r>
            <a:endParaRPr lang="en-US" sz="17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5278" y="5062418"/>
            <a:ext cx="566976" cy="56697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919067" y="5157430"/>
            <a:ext cx="225432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Fast Search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4919067" y="5647849"/>
            <a:ext cx="225432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Approximate nearest neighbor search with HNSW index.</a:t>
            </a:r>
            <a:endParaRPr lang="en-US" sz="17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6884" y="5062418"/>
            <a:ext cx="566976" cy="56697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250674" y="5157430"/>
            <a:ext cx="225432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Similarity Metrics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8250674" y="6002179"/>
            <a:ext cx="225432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Cosine similarity for comparing embeddings.</a:t>
            </a:r>
            <a:endParaRPr lang="en-US" sz="17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8491" y="5062418"/>
            <a:ext cx="566976" cy="56697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1582281" y="5157430"/>
            <a:ext cx="225432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Batch Processing</a:t>
            </a:r>
            <a:endParaRPr lang="en-US" sz="2200" dirty="0"/>
          </a:p>
        </p:txBody>
      </p:sp>
      <p:sp>
        <p:nvSpPr>
          <p:cNvPr id="16" name="Text 9"/>
          <p:cNvSpPr/>
          <p:nvPr/>
        </p:nvSpPr>
        <p:spPr>
          <a:xfrm>
            <a:off x="11582281" y="6002179"/>
            <a:ext cx="225432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Efficient database population and query handling.</a:t>
            </a:r>
            <a:endParaRPr lang="en-US" sz="1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59825"/>
            <a:ext cx="761797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FastAPI Server API Design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622233"/>
            <a:ext cx="2173724" cy="1306949"/>
          </a:xfrm>
          <a:prstGeom prst="roundRect">
            <a:avLst>
              <a:gd name="adj" fmla="val 2603"/>
            </a:avLst>
          </a:prstGeom>
          <a:solidFill>
            <a:srgbClr val="EAE8F3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167" y="3076337"/>
            <a:ext cx="318968" cy="3986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94328" y="28490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RESTful API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194328" y="3339465"/>
            <a:ext cx="516695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Endpoints for image upload and similarity search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3080861" y="3913942"/>
            <a:ext cx="10642402" cy="15240"/>
          </a:xfrm>
          <a:prstGeom prst="roundRect">
            <a:avLst>
              <a:gd name="adj" fmla="val 223256"/>
            </a:avLst>
          </a:prstGeom>
          <a:solidFill>
            <a:srgbClr val="D0CED9"/>
          </a:solidFill>
          <a:ln/>
        </p:spPr>
      </p:sp>
      <p:sp>
        <p:nvSpPr>
          <p:cNvPr id="8" name="Shape 5"/>
          <p:cNvSpPr/>
          <p:nvPr/>
        </p:nvSpPr>
        <p:spPr>
          <a:xfrm>
            <a:off x="793790" y="4042529"/>
            <a:ext cx="4347567" cy="1306949"/>
          </a:xfrm>
          <a:prstGeom prst="roundRect">
            <a:avLst>
              <a:gd name="adj" fmla="val 2603"/>
            </a:avLst>
          </a:prstGeom>
          <a:solidFill>
            <a:srgbClr val="EAE8F3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8089" y="4496633"/>
            <a:ext cx="318968" cy="39862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68171" y="4269343"/>
            <a:ext cx="35252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Asynchronous Handling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368171" y="4759762"/>
            <a:ext cx="562582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Efficient request processing and response generation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5254704" y="5334238"/>
            <a:ext cx="8468558" cy="15240"/>
          </a:xfrm>
          <a:prstGeom prst="roundRect">
            <a:avLst>
              <a:gd name="adj" fmla="val 223256"/>
            </a:avLst>
          </a:prstGeom>
          <a:solidFill>
            <a:srgbClr val="D0CED9"/>
          </a:solidFill>
          <a:ln/>
        </p:spPr>
      </p:sp>
      <p:sp>
        <p:nvSpPr>
          <p:cNvPr id="13" name="Shape 9"/>
          <p:cNvSpPr/>
          <p:nvPr/>
        </p:nvSpPr>
        <p:spPr>
          <a:xfrm>
            <a:off x="793790" y="5462826"/>
            <a:ext cx="6521410" cy="1306949"/>
          </a:xfrm>
          <a:prstGeom prst="roundRect">
            <a:avLst>
              <a:gd name="adj" fmla="val 2603"/>
            </a:avLst>
          </a:prstGeom>
          <a:solidFill>
            <a:srgbClr val="EAE8F3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5011" y="5916930"/>
            <a:ext cx="318968" cy="39862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542014" y="56896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Input Validation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42014" y="6180058"/>
            <a:ext cx="458688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Error handling and secure file management</a:t>
            </a:r>
            <a:endParaRPr lang="en-US" sz="1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2593"/>
            <a:ext cx="8426291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End-to-End Image Search Process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7303770" y="1730573"/>
            <a:ext cx="22860" cy="5756315"/>
          </a:xfrm>
          <a:prstGeom prst="roundRect">
            <a:avLst>
              <a:gd name="adj" fmla="val 126512"/>
            </a:avLst>
          </a:prstGeom>
          <a:solidFill>
            <a:srgbClr val="D0CED9"/>
          </a:solidFill>
          <a:ln/>
        </p:spPr>
      </p:sp>
      <p:sp>
        <p:nvSpPr>
          <p:cNvPr id="4" name="Shape 2"/>
          <p:cNvSpPr/>
          <p:nvPr/>
        </p:nvSpPr>
        <p:spPr>
          <a:xfrm>
            <a:off x="6542782" y="1935956"/>
            <a:ext cx="578406" cy="22860"/>
          </a:xfrm>
          <a:prstGeom prst="roundRect">
            <a:avLst>
              <a:gd name="adj" fmla="val 126512"/>
            </a:avLst>
          </a:prstGeom>
          <a:solidFill>
            <a:srgbClr val="D0CED9"/>
          </a:solidFill>
          <a:ln/>
        </p:spPr>
      </p:sp>
      <p:sp>
        <p:nvSpPr>
          <p:cNvPr id="5" name="Shape 3"/>
          <p:cNvSpPr/>
          <p:nvPr/>
        </p:nvSpPr>
        <p:spPr>
          <a:xfrm>
            <a:off x="7098328" y="1730573"/>
            <a:ext cx="433745" cy="433745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0539" y="1766649"/>
            <a:ext cx="289203" cy="3614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941326" y="1796772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Query Submission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793790" y="2213610"/>
            <a:ext cx="5557480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 uploads image through API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509212" y="3092648"/>
            <a:ext cx="578406" cy="22860"/>
          </a:xfrm>
          <a:prstGeom prst="roundRect">
            <a:avLst>
              <a:gd name="adj" fmla="val 126512"/>
            </a:avLst>
          </a:prstGeom>
          <a:solidFill>
            <a:srgbClr val="D0CED9"/>
          </a:solidFill>
          <a:ln/>
        </p:spPr>
      </p:sp>
      <p:sp>
        <p:nvSpPr>
          <p:cNvPr id="10" name="Shape 7"/>
          <p:cNvSpPr/>
          <p:nvPr/>
        </p:nvSpPr>
        <p:spPr>
          <a:xfrm>
            <a:off x="7098328" y="2887266"/>
            <a:ext cx="433745" cy="433745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0539" y="2923342"/>
            <a:ext cx="289203" cy="3614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79130" y="2953464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Image Processing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8279130" y="3370302"/>
            <a:ext cx="5557480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Temporary storage, preprocessing and normalization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542782" y="4089678"/>
            <a:ext cx="578406" cy="22860"/>
          </a:xfrm>
          <a:prstGeom prst="roundRect">
            <a:avLst>
              <a:gd name="adj" fmla="val 126512"/>
            </a:avLst>
          </a:prstGeom>
          <a:solidFill>
            <a:srgbClr val="D0CED9"/>
          </a:solidFill>
          <a:ln/>
        </p:spPr>
      </p:sp>
      <p:sp>
        <p:nvSpPr>
          <p:cNvPr id="15" name="Shape 11"/>
          <p:cNvSpPr/>
          <p:nvPr/>
        </p:nvSpPr>
        <p:spPr>
          <a:xfrm>
            <a:off x="7098328" y="3884295"/>
            <a:ext cx="433745" cy="433745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0539" y="3920371"/>
            <a:ext cx="289203" cy="36147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41326" y="3950494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Extraction</a:t>
            </a:r>
            <a:endParaRPr lang="en-US" sz="1850" dirty="0"/>
          </a:p>
        </p:txBody>
      </p:sp>
      <p:sp>
        <p:nvSpPr>
          <p:cNvPr id="18" name="Text 13"/>
          <p:cNvSpPr/>
          <p:nvPr/>
        </p:nvSpPr>
        <p:spPr>
          <a:xfrm>
            <a:off x="793790" y="4367332"/>
            <a:ext cx="5557480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BiomedCLIP generates embedding vector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7509212" y="5086707"/>
            <a:ext cx="578406" cy="22860"/>
          </a:xfrm>
          <a:prstGeom prst="roundRect">
            <a:avLst>
              <a:gd name="adj" fmla="val 126512"/>
            </a:avLst>
          </a:prstGeom>
          <a:solidFill>
            <a:srgbClr val="D0CED9"/>
          </a:solidFill>
          <a:ln/>
        </p:spPr>
      </p:sp>
      <p:sp>
        <p:nvSpPr>
          <p:cNvPr id="20" name="Shape 15"/>
          <p:cNvSpPr/>
          <p:nvPr/>
        </p:nvSpPr>
        <p:spPr>
          <a:xfrm>
            <a:off x="7098328" y="4881324"/>
            <a:ext cx="433745" cy="433745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0539" y="4917400"/>
            <a:ext cx="289203" cy="36147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79130" y="4947523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Similarity Search</a:t>
            </a:r>
            <a:endParaRPr lang="en-US" sz="1850" dirty="0"/>
          </a:p>
        </p:txBody>
      </p:sp>
      <p:sp>
        <p:nvSpPr>
          <p:cNvPr id="23" name="Text 17"/>
          <p:cNvSpPr/>
          <p:nvPr/>
        </p:nvSpPr>
        <p:spPr>
          <a:xfrm>
            <a:off x="8279130" y="5364361"/>
            <a:ext cx="5557480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ChromaDB finds nearest neighbors in embedding space</a:t>
            </a:r>
            <a:endParaRPr lang="en-US" sz="1500" dirty="0"/>
          </a:p>
        </p:txBody>
      </p:sp>
      <p:sp>
        <p:nvSpPr>
          <p:cNvPr id="24" name="Shape 18"/>
          <p:cNvSpPr/>
          <p:nvPr/>
        </p:nvSpPr>
        <p:spPr>
          <a:xfrm>
            <a:off x="6542782" y="6083737"/>
            <a:ext cx="578406" cy="22860"/>
          </a:xfrm>
          <a:prstGeom prst="roundRect">
            <a:avLst>
              <a:gd name="adj" fmla="val 126512"/>
            </a:avLst>
          </a:prstGeom>
          <a:solidFill>
            <a:srgbClr val="D0CED9"/>
          </a:solidFill>
          <a:ln/>
        </p:spPr>
      </p:sp>
      <p:sp>
        <p:nvSpPr>
          <p:cNvPr id="25" name="Shape 19"/>
          <p:cNvSpPr/>
          <p:nvPr/>
        </p:nvSpPr>
        <p:spPr>
          <a:xfrm>
            <a:off x="7098328" y="5878354"/>
            <a:ext cx="433745" cy="433745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0539" y="5914430"/>
            <a:ext cx="289203" cy="36147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41326" y="5944553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Result Processing</a:t>
            </a:r>
            <a:endParaRPr lang="en-US" sz="1850" dirty="0"/>
          </a:p>
        </p:txBody>
      </p:sp>
      <p:sp>
        <p:nvSpPr>
          <p:cNvPr id="28" name="Text 21"/>
          <p:cNvSpPr/>
          <p:nvPr/>
        </p:nvSpPr>
        <p:spPr>
          <a:xfrm>
            <a:off x="793790" y="6361390"/>
            <a:ext cx="5557480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Similar images ranked by distance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75021"/>
            <a:ext cx="110214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Development Obstacles and Solutions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50776"/>
            <a:ext cx="306812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Image Heterogeneity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93192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Challenge: Diverse biomedical image formats and characteristics.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861798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Solution: Robust image validation and preprocessing pipeline.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332928" y="3350776"/>
            <a:ext cx="375606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Computational Efficiency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332928" y="393192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Challenge: Processing large datasets with deep neural networks.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332928" y="4861798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Solution: Batch processing with configurable batch sizes.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872067" y="3350776"/>
            <a:ext cx="295358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Scalability Concerns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872067" y="393192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Challenge: Handling growing image collections.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872067" y="4861798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Solution: Vector database with approximate nearest neighbor search.</a:t>
            </a:r>
            <a:endParaRPr lang="en-US" sz="1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174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89495" y="618053"/>
            <a:ext cx="5337691" cy="667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250"/>
              </a:lnSpc>
              <a:buNone/>
            </a:pPr>
            <a:r>
              <a:rPr lang="en-US" sz="4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System Evaluation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6272927" y="1712000"/>
            <a:ext cx="3625334" cy="704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00"/>
              </a:lnSpc>
              <a:buNone/>
            </a:pPr>
            <a:r>
              <a:rPr lang="en-US" sz="55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&lt;500ms</a:t>
            </a:r>
            <a:endParaRPr lang="en-US" sz="5500" dirty="0"/>
          </a:p>
        </p:txBody>
      </p:sp>
      <p:sp>
        <p:nvSpPr>
          <p:cNvPr id="5" name="Text 2"/>
          <p:cNvSpPr/>
          <p:nvPr/>
        </p:nvSpPr>
        <p:spPr>
          <a:xfrm>
            <a:off x="6751201" y="2683192"/>
            <a:ext cx="2668786" cy="33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Query Time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272927" y="3144798"/>
            <a:ext cx="3625334" cy="682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search speed for database of thousands of images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0218420" y="1712000"/>
            <a:ext cx="3625453" cy="704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00"/>
              </a:lnSpc>
              <a:buNone/>
            </a:pPr>
            <a:r>
              <a:rPr lang="en-US" sz="55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Linear</a:t>
            </a:r>
            <a:endParaRPr lang="en-US" sz="5500" dirty="0"/>
          </a:p>
        </p:txBody>
      </p:sp>
      <p:sp>
        <p:nvSpPr>
          <p:cNvPr id="8" name="Text 5"/>
          <p:cNvSpPr/>
          <p:nvPr/>
        </p:nvSpPr>
        <p:spPr>
          <a:xfrm>
            <a:off x="10696694" y="2683192"/>
            <a:ext cx="2668786" cy="33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Scaling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218420" y="3144798"/>
            <a:ext cx="3625453" cy="682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Performance scaling with database size due to HNSW indexing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245673" y="4574858"/>
            <a:ext cx="3625334" cy="704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00"/>
              </a:lnSpc>
              <a:buNone/>
            </a:pPr>
            <a:r>
              <a:rPr lang="en-US" sz="55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</a:t>
            </a:r>
            <a:endParaRPr lang="en-US" sz="5500" dirty="0"/>
          </a:p>
        </p:txBody>
      </p:sp>
      <p:sp>
        <p:nvSpPr>
          <p:cNvPr id="11" name="Text 8"/>
          <p:cNvSpPr/>
          <p:nvPr/>
        </p:nvSpPr>
        <p:spPr>
          <a:xfrm>
            <a:off x="8723948" y="5546050"/>
            <a:ext cx="2668786" cy="33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Precision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8245673" y="6007656"/>
            <a:ext cx="3625334" cy="682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Retrieval accuracy on known similar images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6272927" y="6930747"/>
            <a:ext cx="7570946" cy="682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Retrieved images show biological relevance beyond visual similarity, capturing semantic relationships between cell types.</a:t>
            </a:r>
            <a:endParaRPr lang="en-US" sz="16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79846" y="125110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Future Work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857256" y="2861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Clustering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351967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Hierarchical organization of embedding space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6731" y="3176588"/>
            <a:ext cx="339328" cy="4242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3042999"/>
            <a:ext cx="294370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Multimodal Queries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37790" y="3533418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Text + image search capabilities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2604" y="3565088"/>
            <a:ext cx="339328" cy="4242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53141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Active Learning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937790" y="5804535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Feedback loop to improve search results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4103" y="5790962"/>
            <a:ext cx="339328" cy="4242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57256" y="53141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Expansion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93790" y="5804535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Incorporating additional biomedical collections</a:t>
            </a:r>
            <a:endParaRPr lang="en-US" sz="17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838230" y="5402461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6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72602" y="1498640"/>
            <a:ext cx="728507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Future Work - Clustering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661047"/>
            <a:ext cx="4158615" cy="25702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514737"/>
            <a:ext cx="38223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Dimensionality Reduction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600515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UMAP transforms high-dimensional embeddings for visualization.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2661047"/>
            <a:ext cx="4158615" cy="25702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5514737"/>
            <a:ext cx="337530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Hierarchical Clustering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600515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AgglomerativeClustering groups similar images with distance threshold.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995" y="2661047"/>
            <a:ext cx="4158615" cy="257020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55147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Metadata Updates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600515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Database entries enriched with cluster information.</a:t>
            </a:r>
            <a:endParaRPr lang="en-US" sz="1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21649" y="772954"/>
            <a:ext cx="5387102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300"/>
              </a:lnSpc>
              <a:buNone/>
            </a:pPr>
            <a:r>
              <a:rPr lang="en-US" sz="4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Summary</a:t>
            </a:r>
            <a:endParaRPr lang="en-US" sz="4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410" y="2016323"/>
            <a:ext cx="3127653" cy="3127653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1346" y="2016323"/>
            <a:ext cx="3127653" cy="3127653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1282" y="2016323"/>
            <a:ext cx="3127653" cy="3127653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01218" y="2016323"/>
            <a:ext cx="3127772" cy="3127772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793790" y="5525572"/>
            <a:ext cx="4203978" cy="1930956"/>
          </a:xfrm>
          <a:prstGeom prst="roundRect">
            <a:avLst>
              <a:gd name="adj" fmla="val 1674"/>
            </a:avLst>
          </a:prstGeom>
          <a:solidFill>
            <a:srgbClr val="EAE8F3"/>
          </a:solidFill>
          <a:ln/>
        </p:spPr>
      </p:sp>
      <p:sp>
        <p:nvSpPr>
          <p:cNvPr id="8" name="Text 2"/>
          <p:cNvSpPr/>
          <p:nvPr/>
        </p:nvSpPr>
        <p:spPr>
          <a:xfrm>
            <a:off x="1009174" y="5740956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Achievements</a:t>
            </a:r>
            <a:endParaRPr lang="en-US" sz="2100" dirty="0"/>
          </a:p>
        </p:txBody>
      </p:sp>
      <p:sp>
        <p:nvSpPr>
          <p:cNvPr id="9" name="Text 3"/>
          <p:cNvSpPr/>
          <p:nvPr/>
        </p:nvSpPr>
        <p:spPr>
          <a:xfrm>
            <a:off x="1009174" y="6206728"/>
            <a:ext cx="3773210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End-to-end biomedical image search system using state-of-the-art models with scalable architecture.</a:t>
            </a:r>
            <a:endParaRPr lang="en-US" sz="1650" dirty="0"/>
          </a:p>
        </p:txBody>
      </p:sp>
      <p:sp>
        <p:nvSpPr>
          <p:cNvPr id="10" name="Shape 4"/>
          <p:cNvSpPr/>
          <p:nvPr/>
        </p:nvSpPr>
        <p:spPr>
          <a:xfrm>
            <a:off x="5213152" y="5525572"/>
            <a:ext cx="4203978" cy="1930956"/>
          </a:xfrm>
          <a:prstGeom prst="roundRect">
            <a:avLst>
              <a:gd name="adj" fmla="val 1674"/>
            </a:avLst>
          </a:prstGeom>
          <a:solidFill>
            <a:srgbClr val="EAE8F3"/>
          </a:solidFill>
          <a:ln/>
        </p:spPr>
      </p:sp>
      <p:sp>
        <p:nvSpPr>
          <p:cNvPr id="11" name="Text 5"/>
          <p:cNvSpPr/>
          <p:nvPr/>
        </p:nvSpPr>
        <p:spPr>
          <a:xfrm>
            <a:off x="5428536" y="5740956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Broader Impact</a:t>
            </a:r>
            <a:endParaRPr lang="en-US" sz="2100" dirty="0"/>
          </a:p>
        </p:txBody>
      </p:sp>
      <p:sp>
        <p:nvSpPr>
          <p:cNvPr id="12" name="Text 6"/>
          <p:cNvSpPr/>
          <p:nvPr/>
        </p:nvSpPr>
        <p:spPr>
          <a:xfrm>
            <a:off x="5428536" y="6206728"/>
            <a:ext cx="3773210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Accelerates research, provides foundation for automated analysis, demonstrates AI in healthcare.</a:t>
            </a:r>
            <a:endParaRPr lang="en-US" sz="1650" dirty="0"/>
          </a:p>
        </p:txBody>
      </p:sp>
      <p:sp>
        <p:nvSpPr>
          <p:cNvPr id="13" name="Shape 7"/>
          <p:cNvSpPr/>
          <p:nvPr/>
        </p:nvSpPr>
        <p:spPr>
          <a:xfrm>
            <a:off x="9632513" y="5525572"/>
            <a:ext cx="4203978" cy="1930956"/>
          </a:xfrm>
          <a:prstGeom prst="roundRect">
            <a:avLst>
              <a:gd name="adj" fmla="val 1674"/>
            </a:avLst>
          </a:prstGeom>
          <a:solidFill>
            <a:srgbClr val="EAE8F3"/>
          </a:solidFill>
          <a:ln/>
        </p:spPr>
      </p:sp>
      <p:sp>
        <p:nvSpPr>
          <p:cNvPr id="14" name="Text 8"/>
          <p:cNvSpPr/>
          <p:nvPr/>
        </p:nvSpPr>
        <p:spPr>
          <a:xfrm>
            <a:off x="9847898" y="5740956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Next Steps</a:t>
            </a:r>
            <a:endParaRPr lang="en-US" sz="2100" dirty="0"/>
          </a:p>
        </p:txBody>
      </p:sp>
      <p:sp>
        <p:nvSpPr>
          <p:cNvPr id="15" name="Text 9"/>
          <p:cNvSpPr/>
          <p:nvPr/>
        </p:nvSpPr>
        <p:spPr>
          <a:xfrm>
            <a:off x="9847898" y="6206728"/>
            <a:ext cx="3773210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Open source contribution, integration with medical systems, extension to new domains.</a:t>
            </a:r>
            <a:endParaRPr lang="en-US" sz="16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736646" y="323588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Thank you!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1736646" y="428482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Questions?</a:t>
            </a:r>
            <a:endParaRPr lang="en-US" sz="4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22</Slides>
  <Notes>22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2</cp:revision>
  <dcterms:created xsi:type="dcterms:W3CDTF">2025-05-25T12:26:22Z</dcterms:created>
  <dcterms:modified xsi:type="dcterms:W3CDTF">2025-05-25T12:29:16Z</dcterms:modified>
</cp:coreProperties>
</file>